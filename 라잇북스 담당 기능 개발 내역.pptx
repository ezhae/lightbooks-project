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350" r:id="rId5"/>
    <p:sldId id="355" r:id="rId6"/>
    <p:sldId id="356" r:id="rId7"/>
    <p:sldId id="352" r:id="rId8"/>
    <p:sldId id="357" r:id="rId9"/>
    <p:sldId id="353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6" r:id="rId18"/>
    <p:sldId id="367" r:id="rId19"/>
    <p:sldId id="369" r:id="rId20"/>
    <p:sldId id="368" r:id="rId21"/>
    <p:sldId id="370" r:id="rId22"/>
    <p:sldId id="371" r:id="rId23"/>
    <p:sldId id="372" r:id="rId24"/>
    <p:sldId id="373" r:id="rId25"/>
    <p:sldId id="374" r:id="rId26"/>
    <p:sldId id="375" r:id="rId27"/>
    <p:sldId id="354" r:id="rId28"/>
    <p:sldId id="379" r:id="rId29"/>
    <p:sldId id="376" r:id="rId30"/>
    <p:sldId id="380" r:id="rId31"/>
    <p:sldId id="378" r:id="rId32"/>
    <p:sldId id="382" r:id="rId33"/>
    <p:sldId id="381" r:id="rId34"/>
    <p:sldId id="383" r:id="rId35"/>
    <p:sldId id="320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CBDF"/>
    <a:srgbClr val="93D169"/>
    <a:srgbClr val="72BF3B"/>
    <a:srgbClr val="F0F9F1"/>
    <a:srgbClr val="AFDD8F"/>
    <a:srgbClr val="A7F3D0"/>
    <a:srgbClr val="89E39E"/>
    <a:srgbClr val="31CD56"/>
    <a:srgbClr val="28A745"/>
    <a:srgbClr val="008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79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F139B-AD32-929A-03FE-A526DBB59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20F77C-DC30-8B45-2CAF-D19B7E99F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1224DA-2FD8-7A0F-AEEF-BB4C38F4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7B972C-7F69-99A3-9B79-758CA62F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CA7798-185E-E96D-56F5-2144E82C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33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3BBF67D-6303-8D66-3C55-D76145F9F4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381CD4-20CF-3FB5-2F74-F85FB3C8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72A74E-5F8E-54BD-262D-25EBFCFBC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0FF612-4FD7-6BA6-D3C9-850EAF01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15D79D-00D1-9CC1-62BE-837614BDF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5482A3-184D-6B71-76C7-5D2C76B9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0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5F2D1-7EEE-C365-3216-1BC809F7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A95AA0-2BD7-EEC7-4BDC-43CF9B56B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341FE-D6E8-5C39-D7BF-CD1B4485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B832B4-6CFF-68A9-35D9-764E1D17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65FA9F-D39F-642E-916F-B611C2C66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6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81F2D-4666-D4EC-FF7B-64D20BD1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A3C54-8605-9375-8574-93F80C478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A09C77-1A44-9DAF-E86A-B45B91FEB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355E73-BA85-9AF9-700B-116F4CCE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52EF22-2C8B-8357-B37C-1B8558F4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A66A04-DF01-538E-D86E-1BEFBC75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415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CE55B-8BEC-1348-20DC-29A575AE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62DDCC-5D18-9996-82C9-0133A223D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7D54E5-E6C5-385A-E699-955544F13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5CCBE7-6249-CDB7-7A3C-F5FABDFE9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98DA70-1F58-EBC0-25C0-C90A82704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704EAE-DE55-E20D-DE3E-695DDBCF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75D057-29B9-24E6-972C-7F400B3A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90686A-96CF-1E79-80D0-FCE9300B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73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49E9E-011F-5055-B61D-C399D10C5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D1877-777A-4DD8-6165-9FE6AFAE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EC5019-B5F6-3DFF-B931-70C8EB79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65C269-CEEC-7A08-880F-4AFB59C0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62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3BD9AA-B122-3F58-684B-3744EBB2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F40F35-A7D8-EF0D-D58C-BB00899A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4EF0B-9877-13FB-51C9-D557A4E0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94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8250F-56AB-2062-A197-2D547904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C2A9D0-8371-6BD3-44B7-D4CA1F3CE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1C461D-9C21-A26D-7421-300D72EF4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35D615-CE49-BE1E-7543-D9035875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C6F9B0-C406-468C-227D-1AF4AAC8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B50596-C297-08E9-B62C-D7D98684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14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5B38E-9B17-73FE-C29D-4AD932EC4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62CCEA-FF4A-FACA-EDCF-936F8D92C9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3AC9DE-9B02-ECAC-255D-89E666C4A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90DEF0-9BEB-6E8D-4FC3-5118B93F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B31154-6DE6-FFEF-773C-57B0FC7C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D00A9B-B9F3-EC1F-D902-A83AED97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62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97908-57D1-E0F9-F8BF-9F47A09D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5C1E5C-A345-EC02-78EB-1A2114A15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B4328-DA48-9BCB-BAF4-74D8EF7D9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F13EE-C82C-E11E-798E-7A2388369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908833-5B16-638F-2260-FABE3571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65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61D71C-FB6D-A9C0-C629-550B4A155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962530-C6C4-4E65-7AA0-CE869BD31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EC2084-C3F3-6310-7720-D164D35A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F67F72-4ABB-73C5-E929-1D2E4392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55554D-85F9-300F-9FDF-7AF01318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67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A0F17CE-2F4D-3589-0722-15A9869BD1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5BDECA-6A66-D633-EC94-57AF67B01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0D6466-0DD9-0CD2-CBDB-22CAA8B0B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F01014-3CB5-EB35-C595-8CF168B8D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C51E7-8A09-415D-BF8E-F0C422B387B6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D39E4-1EE0-B5CA-03B7-676FBA2CC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C98D75-177E-FD07-BCCC-426F1EEFA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7E2EB-23EB-492C-B819-03ECF4CB6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9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7B658B4-A274-1BF5-9FDB-6EF860F7C45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9572" y1="62357" x2="64184" y2="65019"/>
                        <a14:foregroundMark x1="52932" y1="52015" x2="44453" y2="703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133" t="34814" r="26073" b="10445"/>
          <a:stretch/>
        </p:blipFill>
        <p:spPr>
          <a:xfrm flipH="1">
            <a:off x="7965440" y="0"/>
            <a:ext cx="4226560" cy="685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D0E9DC8-E7D8-BAAA-7DBD-F27433297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9" r="4619"/>
          <a:stretch/>
        </p:blipFill>
        <p:spPr>
          <a:xfrm>
            <a:off x="5444161" y="1505992"/>
            <a:ext cx="5236040" cy="3846016"/>
          </a:xfrm>
          <a:prstGeom prst="round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CBFDBB-43CE-9A53-705E-6BD69B602035}"/>
              </a:ext>
            </a:extLst>
          </p:cNvPr>
          <p:cNvSpPr txBox="1"/>
          <p:nvPr/>
        </p:nvSpPr>
        <p:spPr>
          <a:xfrm>
            <a:off x="751840" y="1223806"/>
            <a:ext cx="514096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800" b="0" i="0" dirty="0">
                <a:solidFill>
                  <a:srgbClr val="666666"/>
                </a:solidFill>
                <a:effectLst/>
                <a:latin typeface="나눔스퀘어" panose="020B0600000101010101" pitchFamily="34" charset="-127"/>
                <a:ea typeface="나눔스퀘어" panose="020B0600000101010101" pitchFamily="34" charset="-127"/>
              </a:rPr>
              <a:t>작가와 독자가 함께 만드는 </a:t>
            </a:r>
            <a:endParaRPr lang="en-US" altLang="ko-KR" sz="2800" b="0" i="0" dirty="0">
              <a:solidFill>
                <a:srgbClr val="666666"/>
              </a:solidFill>
              <a:effectLst/>
              <a:latin typeface="나눔스퀘어" panose="020B0600000101010101" pitchFamily="34" charset="-127"/>
              <a:ea typeface="나눔스퀘어" panose="020B0600000101010101" pitchFamily="34" charset="-127"/>
            </a:endParaRPr>
          </a:p>
          <a:p>
            <a:r>
              <a:rPr lang="ko-KR" altLang="en-US" sz="2800" b="0" i="0" dirty="0">
                <a:solidFill>
                  <a:srgbClr val="666666"/>
                </a:solidFill>
                <a:effectLst/>
                <a:latin typeface="나눔스퀘어" panose="020B0600000101010101" pitchFamily="34" charset="-127"/>
                <a:ea typeface="나눔스퀘어" panose="020B0600000101010101" pitchFamily="34" charset="-127"/>
              </a:rPr>
              <a:t>이야기 공간</a:t>
            </a:r>
            <a:r>
              <a:rPr lang="en-US" altLang="ko-KR" sz="2800" b="0" i="0" dirty="0">
                <a:solidFill>
                  <a:srgbClr val="666666"/>
                </a:solidFill>
                <a:effectLst/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2800" b="0" i="0" dirty="0" err="1">
                <a:solidFill>
                  <a:srgbClr val="666666"/>
                </a:solidFill>
                <a:effectLst/>
                <a:latin typeface="나눔스퀘어" panose="020B0600000101010101" pitchFamily="34" charset="-127"/>
                <a:ea typeface="나눔스퀘어" panose="020B0600000101010101" pitchFamily="34" charset="-127"/>
              </a:rPr>
              <a:t>라잇북스</a:t>
            </a:r>
            <a:endParaRPr lang="ko-KR" altLang="en-US" sz="2800" dirty="0">
              <a:latin typeface="나눔스퀘어" panose="020B0600000101010101" pitchFamily="34" charset="-127"/>
              <a:ea typeface="나눔스퀘어" panose="020B0600000101010101" pitchFamily="34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4FF5614-68B8-7EB6-5FBE-D0D31C81E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676534"/>
              </p:ext>
            </p:extLst>
          </p:nvPr>
        </p:nvGraphicFramePr>
        <p:xfrm>
          <a:off x="106556" y="5282168"/>
          <a:ext cx="4952461" cy="135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887">
                  <a:extLst>
                    <a:ext uri="{9D8B030D-6E8A-4147-A177-3AD203B41FA5}">
                      <a16:colId xmlns:a16="http://schemas.microsoft.com/office/drawing/2014/main" val="3923794644"/>
                    </a:ext>
                  </a:extLst>
                </a:gridCol>
                <a:gridCol w="3498574">
                  <a:extLst>
                    <a:ext uri="{9D8B030D-6E8A-4147-A177-3AD203B41FA5}">
                      <a16:colId xmlns:a16="http://schemas.microsoft.com/office/drawing/2014/main" val="2151001278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이지해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21731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최호철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허유진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2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프로젝트 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2025-03-10 ~ 2025-04-02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814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깃 허브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https://github.com/EZHae/lightbooks-project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7905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3FC8E97-B0AF-5271-51A3-EC75EBBC65A2}"/>
              </a:ext>
            </a:extLst>
          </p:cNvPr>
          <p:cNvSpPr txBox="1"/>
          <p:nvPr/>
        </p:nvSpPr>
        <p:spPr>
          <a:xfrm>
            <a:off x="751840" y="2177913"/>
            <a:ext cx="4521200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3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라잇북스</a:t>
            </a:r>
            <a:r>
              <a:rPr lang="en-US" altLang="ko-KR" sz="3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3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담당 기능</a:t>
            </a:r>
            <a:br>
              <a:rPr lang="en-US" altLang="ko-KR" sz="3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ko-KR" altLang="en-US" sz="3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 내역 </a:t>
            </a:r>
            <a:r>
              <a:rPr lang="en-US" altLang="ko-KR" sz="3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</a:t>
            </a:r>
            <a:r>
              <a:rPr lang="ko-KR" altLang="en-US" sz="3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이지해</a:t>
            </a:r>
            <a:endParaRPr lang="ko-KR" altLang="en-US" sz="3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E57B5B2-1CB4-1870-54D1-FF2D1B3F9369}"/>
              </a:ext>
            </a:extLst>
          </p:cNvPr>
          <p:cNvSpPr/>
          <p:nvPr/>
        </p:nvSpPr>
        <p:spPr>
          <a:xfrm>
            <a:off x="751840" y="3355337"/>
            <a:ext cx="2269656" cy="479285"/>
          </a:xfrm>
          <a:prstGeom prst="roundRect">
            <a:avLst>
              <a:gd name="adj" fmla="val 35745"/>
            </a:avLst>
          </a:prstGeom>
          <a:solidFill>
            <a:srgbClr val="B5CB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LIGHIT BOOKS</a:t>
            </a:r>
            <a:endParaRPr lang="ko-KR" altLang="en-US" sz="2000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8568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414A4C1-28BD-05AC-01E1-8A4B62BD22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9572" y1="62357" x2="64184" y2="65019"/>
                        <a14:foregroundMark x1="52932" y1="52015" x2="44453" y2="703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133" t="34814" r="26073" b="10445"/>
          <a:stretch/>
        </p:blipFill>
        <p:spPr>
          <a:xfrm>
            <a:off x="0" y="0"/>
            <a:ext cx="4226560" cy="685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27DF20A-DBBE-A20B-A304-76D65B42C0FC}"/>
              </a:ext>
            </a:extLst>
          </p:cNvPr>
          <p:cNvSpPr txBox="1"/>
          <p:nvPr/>
        </p:nvSpPr>
        <p:spPr>
          <a:xfrm>
            <a:off x="888441" y="3460413"/>
            <a:ext cx="2441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목차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51D483-89AD-6154-580A-4CDC7CF4A381}"/>
              </a:ext>
            </a:extLst>
          </p:cNvPr>
          <p:cNvSpPr txBox="1"/>
          <p:nvPr/>
        </p:nvSpPr>
        <p:spPr>
          <a:xfrm>
            <a:off x="888441" y="2393613"/>
            <a:ext cx="31567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2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라잇북스</a:t>
            </a:r>
            <a:endParaRPr lang="en-US" altLang="ko-KR" sz="2800" b="1" dirty="0">
              <a:solidFill>
                <a:schemeClr val="bg2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800" b="1" dirty="0">
                <a:solidFill>
                  <a:schemeClr val="bg2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담당 기능 개발 내역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D20770F-D81B-0FBF-6E3E-4F3EA0674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715106"/>
              </p:ext>
            </p:extLst>
          </p:nvPr>
        </p:nvGraphicFramePr>
        <p:xfrm>
          <a:off x="7219823" y="343937"/>
          <a:ext cx="4972175" cy="5005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095">
                  <a:extLst>
                    <a:ext uri="{9D8B030D-6E8A-4147-A177-3AD203B41FA5}">
                      <a16:colId xmlns:a16="http://schemas.microsoft.com/office/drawing/2014/main" val="278875861"/>
                    </a:ext>
                  </a:extLst>
                </a:gridCol>
                <a:gridCol w="1087516">
                  <a:extLst>
                    <a:ext uri="{9D8B030D-6E8A-4147-A177-3AD203B41FA5}">
                      <a16:colId xmlns:a16="http://schemas.microsoft.com/office/drawing/2014/main" val="3347503428"/>
                    </a:ext>
                  </a:extLst>
                </a:gridCol>
                <a:gridCol w="3058564">
                  <a:extLst>
                    <a:ext uri="{9D8B030D-6E8A-4147-A177-3AD203B41FA5}">
                      <a16:colId xmlns:a16="http://schemas.microsoft.com/office/drawing/2014/main" val="1626382165"/>
                    </a:ext>
                  </a:extLst>
                </a:gridCol>
              </a:tblGrid>
              <a:tr h="42744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───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 페이지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56500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알림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결제 및 </a:t>
                      </a:r>
                      <a:b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 내역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677583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───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어드민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페이지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75980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공지사항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결제 대기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333997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───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작품 관리 페이지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561919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작품 별 수익 관리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21999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───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결제 시스템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638548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코인 충전 및 사용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마일리지 적립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이용권 교환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작품 구매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작품 후원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92539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───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실시간 채팅 시스템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055095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 채팅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어드민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채팅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927679"/>
                  </a:ext>
                </a:extLst>
              </a:tr>
              <a:tr h="42744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───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데이터베이스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(ERD)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7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817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8A31-8BF5-E655-C61C-538F0A73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0A2D8C95-661C-E96B-2FAC-3169ED135CB9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12102E-520A-AFB6-52BB-FF9B77F77A41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86178"/>
            <a:chExt cx="635000" cy="6350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0DB4763-0625-3BC9-6503-F2EA540FA7D1}"/>
                </a:ext>
              </a:extLst>
            </p:cNvPr>
            <p:cNvSpPr/>
            <p:nvPr/>
          </p:nvSpPr>
          <p:spPr>
            <a:xfrm>
              <a:off x="401320" y="186178"/>
              <a:ext cx="635000" cy="635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3743B083-46DB-723B-E229-ECF660169439}"/>
                </a:ext>
              </a:extLst>
            </p:cNvPr>
            <p:cNvSpPr txBox="1"/>
            <p:nvPr/>
          </p:nvSpPr>
          <p:spPr>
            <a:xfrm>
              <a:off x="484873" y="347713"/>
              <a:ext cx="467895" cy="311930"/>
            </a:xfrm>
            <a:prstGeom prst="rect">
              <a:avLst/>
            </a:prstGeom>
            <a:solidFill>
              <a:schemeClr val="accent5"/>
            </a:solidFill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2EF7E1-B1E5-C662-8ABA-FD29D16BD8C5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5005DD25-4420-B37E-8AA7-5483A81FEFC0}"/>
              </a:ext>
            </a:extLst>
          </p:cNvPr>
          <p:cNvSpPr txBox="1"/>
          <p:nvPr/>
        </p:nvSpPr>
        <p:spPr>
          <a:xfrm>
            <a:off x="1119873" y="365178"/>
            <a:ext cx="894080" cy="27699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회원 가입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09671C-E705-0CC9-03A7-DC0E770F7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85" r="22757" b="17649"/>
          <a:stretch/>
        </p:blipFill>
        <p:spPr>
          <a:xfrm>
            <a:off x="198120" y="1028431"/>
            <a:ext cx="3649848" cy="46533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CA2E625-B483-E6A4-FE53-412EF946D8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334"/>
          <a:stretch/>
        </p:blipFill>
        <p:spPr>
          <a:xfrm>
            <a:off x="7535069" y="1428382"/>
            <a:ext cx="3808571" cy="10430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B17E4CF-6C87-178D-AF9C-15D1D33C2E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912"/>
          <a:stretch/>
        </p:blipFill>
        <p:spPr>
          <a:xfrm>
            <a:off x="3924393" y="1028431"/>
            <a:ext cx="3534251" cy="3254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3637EBB-155C-D424-C1BE-CCE8ADFB1C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28603"/>
          <a:stretch/>
        </p:blipFill>
        <p:spPr>
          <a:xfrm>
            <a:off x="7535069" y="2765791"/>
            <a:ext cx="4458811" cy="8002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CD0F858-FE56-917F-F06C-FCBA33963CDD}"/>
              </a:ext>
            </a:extLst>
          </p:cNvPr>
          <p:cNvSpPr txBox="1"/>
          <p:nvPr/>
        </p:nvSpPr>
        <p:spPr>
          <a:xfrm>
            <a:off x="198120" y="5762508"/>
            <a:ext cx="6207613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 회원가입 시 입력한 정보를 </a:t>
            </a:r>
            <a:r>
              <a:rPr lang="en-US" altLang="ko-KR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저장</a:t>
            </a:r>
            <a:r>
              <a:rPr lang="en-US" altLang="ko-KR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비밀번호의 경우 암호화하여 저장</a:t>
            </a:r>
            <a:r>
              <a:rPr lang="en-US" altLang="ko-KR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811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F3A1-7E59-61DC-BCC3-5334AA16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5B3FEB2C-186C-8ED3-07C2-F11851E5A2AE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543C805-1AD0-083A-870C-DE1080A22D87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6C3BCCE-A17E-930A-5178-9B389EAD988C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E26F3969-3FAD-12EE-1668-5D0C199992E2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#1-2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224F42-7C9C-F7C3-1E90-F22C3EC3158E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259105CC-FB21-0D1E-B37F-6B06F2238311}"/>
              </a:ext>
            </a:extLst>
          </p:cNvPr>
          <p:cNvSpPr txBox="1"/>
          <p:nvPr/>
        </p:nvSpPr>
        <p:spPr>
          <a:xfrm>
            <a:off x="1119873" y="365178"/>
            <a:ext cx="894080" cy="27699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EFFD22-1A64-68AF-B181-9EB9BFB30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" y="1028432"/>
            <a:ext cx="4139051" cy="26184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857E956-B912-8C70-5A92-9C0342AAF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237" y="1207432"/>
            <a:ext cx="6687483" cy="1686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A9A3469-9FFC-E00B-A31D-B1FF3DF11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813" y="3051464"/>
            <a:ext cx="5651066" cy="2422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2684AD3-3FF6-49B8-AB84-B0F0282CF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" y="3051464"/>
            <a:ext cx="5458995" cy="24349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5D56409-49A4-1756-76AF-F2EF3296394D}"/>
              </a:ext>
            </a:extLst>
          </p:cNvPr>
          <p:cNvSpPr txBox="1"/>
          <p:nvPr/>
        </p:nvSpPr>
        <p:spPr>
          <a:xfrm>
            <a:off x="198119" y="5558318"/>
            <a:ext cx="11795759" cy="1164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 로그인 정보를 틀리게 입력하였을 경우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사용자에게 로그인 실패를 알리기 위하여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세션에 에러 메시지를 저장한 후 해당 메시지를 사용자에게 출력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 로그인에 성공하였을 경우 저장되어 있는 에러 메시지 세션을 삭제한 후 이전 페이지로 </a:t>
            </a:r>
            <a:r>
              <a:rPr lang="ko-KR" altLang="en-US" sz="1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리다이렉트</a:t>
            </a:r>
            <a:r>
              <a:rPr lang="en-US" altLang="ko-KR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4571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B6E5-95BD-CBC1-5A6A-983E9039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5348E2-932E-E023-7D99-7D75ECC8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8" y="1028431"/>
            <a:ext cx="5389881" cy="4196083"/>
          </a:xfrm>
          <a:prstGeom prst="rect">
            <a:avLst/>
          </a:prstGeom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2D4B3522-885F-BFCF-2C2C-170783CA8567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167903E-61A1-FAA9-34B8-91F6340FA7B5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5BBA5D5-E094-34C5-490A-6D0B87B6F9EF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6180F15D-766F-2968-3141-C076F5DD71C5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#1-2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D57C9E-C5B5-0553-32F2-4FA2871B38EE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FD30B842-F4D5-61D4-2FFF-B02B8804A60A}"/>
              </a:ext>
            </a:extLst>
          </p:cNvPr>
          <p:cNvSpPr txBox="1"/>
          <p:nvPr/>
        </p:nvSpPr>
        <p:spPr>
          <a:xfrm>
            <a:off x="1119873" y="365178"/>
            <a:ext cx="894080" cy="27699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6ECE3D-34C2-CC8B-6708-B9C90E17B3BC}"/>
              </a:ext>
            </a:extLst>
          </p:cNvPr>
          <p:cNvSpPr txBox="1"/>
          <p:nvPr/>
        </p:nvSpPr>
        <p:spPr>
          <a:xfrm>
            <a:off x="198119" y="5558318"/>
            <a:ext cx="11795759" cy="1164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User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엔티티와 서비스에서 각각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UserDetails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UserDetailsService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상속받아 로그인 방식을 구현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 시 오늘의 출석체크 유무를 확인하여 출석체크가 안되어 있을 경우 해당 값을 변경하여 저장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b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값을 변경하면서 마일리지를 적립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(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이용권 교환에 사용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47C249-3407-1644-2BDD-FFE652D15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151" y="1028431"/>
            <a:ext cx="5801727" cy="419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88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2889-D744-3310-2BFD-8796FCD74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C1BE10E4-432E-F17D-A345-48F0637A1E69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B281999-21E9-1B63-9538-441E5CDFB135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CB357D35-D926-124A-AEF4-472D58AA77B5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82505212-DEFC-7CC3-8CAD-8543F9731886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3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A9EA45-EB37-8212-774C-0EB1F8D287D6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103119BC-85F3-67FC-CD73-A19939445FC8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알림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D1447C-5609-111D-37C8-667FC72C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028432"/>
            <a:ext cx="3090244" cy="15064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CB6C53-F844-9242-795B-D777D8DB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205" y="1028431"/>
            <a:ext cx="2871352" cy="3347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5B6534-61B9-892F-5667-AA9FFF647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4" r="22714" b="19926"/>
          <a:stretch/>
        </p:blipFill>
        <p:spPr>
          <a:xfrm>
            <a:off x="7640320" y="1028431"/>
            <a:ext cx="4353560" cy="45426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3059B-8F93-D17B-EEA4-F5F6D688A6FE}"/>
              </a:ext>
            </a:extLst>
          </p:cNvPr>
          <p:cNvSpPr txBox="1"/>
          <p:nvPr/>
        </p:nvSpPr>
        <p:spPr>
          <a:xfrm>
            <a:off x="198119" y="5558318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코인 충전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신청 처리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작품 등급 전환 신청처리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작품후원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작가인 경우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알림을 출력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 알림이 없거나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삭제할 알림이 없는 경우 해당 버튼 비활성화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194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B25A-31B0-3206-4DAD-D6E22B62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3F64F598-611F-1177-6722-95764A3012A7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C7D2324-FE0E-15C3-2741-32E974AC9AB4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8F1301A-77F1-6186-1753-621CCB076389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72021117-C79C-2F00-D788-6F0BEB52CD76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3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AA91FA-139E-C16F-25D6-F1F0CE557243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FB1C5895-01B3-DE07-BCDE-B8DCF7B5D2DB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알림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4E929D7-9E5D-60DA-BCB0-2BFCA3323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8432"/>
            <a:ext cx="6234549" cy="43309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8ACF8CD-F871-9951-18BA-2E3584FBE8DA}"/>
              </a:ext>
            </a:extLst>
          </p:cNvPr>
          <p:cNvSpPr txBox="1"/>
          <p:nvPr/>
        </p:nvSpPr>
        <p:spPr>
          <a:xfrm>
            <a:off x="447016" y="5829568"/>
            <a:ext cx="4765064" cy="619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어드민이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신청을 처리하였을 경우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코인 신청 대기 데이터의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변경될 경우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사용자에게 알림을 생성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D750198-3A8B-D8AC-70B6-B702263BC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975" y="1028431"/>
            <a:ext cx="6532903" cy="43309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E64BC19-9C15-3E86-CBE7-D518D90F8097}"/>
              </a:ext>
            </a:extLst>
          </p:cNvPr>
          <p:cNvSpPr txBox="1"/>
          <p:nvPr/>
        </p:nvSpPr>
        <p:spPr>
          <a:xfrm>
            <a:off x="1224301" y="5359413"/>
            <a:ext cx="3215546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코인 충전 신청 처리 결과 알림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C3BC06-D24C-4D7F-1CB0-50A7E83FDC47}"/>
              </a:ext>
            </a:extLst>
          </p:cNvPr>
          <p:cNvSpPr txBox="1"/>
          <p:nvPr/>
        </p:nvSpPr>
        <p:spPr>
          <a:xfrm>
            <a:off x="7119653" y="5359413"/>
            <a:ext cx="3215546" cy="342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작품 후원 알림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2ED827-2D49-86AC-91F1-8A2ADFB98E0E}"/>
              </a:ext>
            </a:extLst>
          </p:cNvPr>
          <p:cNvSpPr txBox="1"/>
          <p:nvPr/>
        </p:nvSpPr>
        <p:spPr>
          <a:xfrm>
            <a:off x="6432668" y="5829568"/>
            <a:ext cx="4589516" cy="619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다른 사용자가 자신의 작품에 후원하였을 경우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(type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 코인 사용 내역 데이터가 추가되었을 경우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작품의 작가에게 알림을 생성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875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AE15-0093-1B19-C0FC-2A1E6C9D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4CF5C4EA-2FF7-E23E-7745-EC79833051CA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5C3D67B-647C-2E01-19C5-45D49ED1DC33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76B0906-77A8-106C-7EE2-C83DCB8A7BAB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B0B1CA09-5EB9-24A6-1A07-FEC055224125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3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8169C7-38CF-81E9-A362-BE2232847824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8E64783E-AE8C-1C60-5AF7-FC775371ADFE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알림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FFEB4-49F2-460A-FE52-5950CE4443AF}"/>
              </a:ext>
            </a:extLst>
          </p:cNvPr>
          <p:cNvSpPr txBox="1"/>
          <p:nvPr/>
        </p:nvSpPr>
        <p:spPr>
          <a:xfrm>
            <a:off x="198119" y="5558318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알림 클릭 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저장되어 있는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target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컬럼의 속성 값으로 주소 이동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추가로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알림 클릭 혹은 모두 읽기 버튼 클릭 시 상황에 맞는 쿼리문을 호출하여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is_read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속성 값을 변경하여 저장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72F04A-3DA2-BB35-0E56-22FDBA2F2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8431"/>
            <a:ext cx="7188201" cy="11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B15764B-F265-3941-07DD-10173B429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4" t="54673" r="22714" b="19926"/>
          <a:stretch/>
        </p:blipFill>
        <p:spPr>
          <a:xfrm>
            <a:off x="198119" y="2268082"/>
            <a:ext cx="4885302" cy="16170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7487E3-F313-0EC3-1DE9-734E214E1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19" y="3996000"/>
            <a:ext cx="7792537" cy="80973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74A64F5-DDEE-B39E-81C9-C82CBEEC47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869"/>
          <a:stretch/>
        </p:blipFill>
        <p:spPr>
          <a:xfrm>
            <a:off x="198119" y="4805738"/>
            <a:ext cx="7792537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85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0E142-D1F5-2710-AEFB-D489C70A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0B48FB23-E721-175A-B201-D01099B1FA13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7947F6F-898A-62A9-E195-12409F7F9310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49D6A89-74AE-D54B-3520-F49216CD675F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8F07291C-CC40-AB06-E138-AA617DED6A74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4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34D80A-4A3D-7EAB-8C1E-958CA75E42F0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DCB70E96-713E-8CB1-64AA-85A372A124E2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 및 사용 내역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5BF09B3-73F1-CD6B-9B80-AA4049FB5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52"/>
          <a:stretch/>
        </p:blipFill>
        <p:spPr>
          <a:xfrm>
            <a:off x="198120" y="1028430"/>
            <a:ext cx="7274575" cy="45392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E73A108-7A01-10CF-4079-BF42F6C28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5" r="10075"/>
          <a:stretch/>
        </p:blipFill>
        <p:spPr>
          <a:xfrm>
            <a:off x="7122160" y="1028429"/>
            <a:ext cx="4871720" cy="286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876DE6D-B0C1-53BB-79BD-5D092C422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5" r="10075" b="9142"/>
          <a:stretch/>
        </p:blipFill>
        <p:spPr>
          <a:xfrm>
            <a:off x="7122160" y="2964682"/>
            <a:ext cx="4871720" cy="26029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E60D40-8C65-A24E-4D15-22DB2A281467}"/>
              </a:ext>
            </a:extLst>
          </p:cNvPr>
          <p:cNvSpPr txBox="1"/>
          <p:nvPr/>
        </p:nvSpPr>
        <p:spPr>
          <a:xfrm>
            <a:off x="198119" y="5558318"/>
            <a:ext cx="11795759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사용자의 코인 충전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환불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작품 구매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후원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이용권 보유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마일리지 적립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내역을 출력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2352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8E94E-53A4-6E26-B2E3-52693B0C2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31D0EB74-6A03-0883-1159-529CF13C1479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DCDFFE5-6C3E-6AE3-2F95-5C7A4714D0EF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8FFEA36-5356-2C25-5884-9C2E268F5C7E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2C18888B-6787-FC82-22AE-E0E8A3BC2582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4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74CDF1-19A2-1771-A3AC-81AB91161D93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599081E0-873C-00A1-75D0-73BF259CEE3A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 및 사용 내역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5D92A-1D5E-FF47-4B3C-FB2255FC801B}"/>
              </a:ext>
            </a:extLst>
          </p:cNvPr>
          <p:cNvSpPr txBox="1"/>
          <p:nvPr/>
        </p:nvSpPr>
        <p:spPr>
          <a:xfrm>
            <a:off x="198119" y="4929160"/>
            <a:ext cx="11795759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 코인을 충전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사용할 경우 상황에 맞는 데이터를 저장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CA0EC4-D5EA-507A-C15F-B175369E4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3831"/>
            <a:ext cx="9326277" cy="1486107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88BE75D-401A-7D2E-64B3-05C699C86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225644"/>
              </p:ext>
            </p:extLst>
          </p:nvPr>
        </p:nvGraphicFramePr>
        <p:xfrm>
          <a:off x="198119" y="2586105"/>
          <a:ext cx="8128000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841">
                  <a:extLst>
                    <a:ext uri="{9D8B030D-6E8A-4147-A177-3AD203B41FA5}">
                      <a16:colId xmlns:a16="http://schemas.microsoft.com/office/drawing/2014/main" val="3767239106"/>
                    </a:ext>
                  </a:extLst>
                </a:gridCol>
                <a:gridCol w="6233159">
                  <a:extLst>
                    <a:ext uri="{9D8B030D-6E8A-4147-A177-3AD203B41FA5}">
                      <a16:colId xmlns:a16="http://schemas.microsoft.com/office/drawing/2014/main" val="353780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코인 사용 내역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type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155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0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코인 충전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5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1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작품 구매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2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코인 환불</a:t>
                      </a:r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/</a:t>
                      </a:r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환전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320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3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작품 후원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362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357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644F-FD5E-2BD3-C89E-37C27E24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7E349F42-532C-B976-CBBE-5B0C029E9154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D625DFE-530F-2ABB-F1A5-DDB81FAEF96A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A2B2E91-FC78-4737-F1D4-76EC094786D9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FD3FE251-C67D-42C5-7A15-F7486F2D8CF7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4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01FD34-F009-4D61-BA71-2C576B462DA2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6CEE4975-6C84-B1C9-6AC0-FABF0D817413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 및 사용 내역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A80FC-CC23-B77A-A6EB-78DA683F7E50}"/>
              </a:ext>
            </a:extLst>
          </p:cNvPr>
          <p:cNvSpPr txBox="1"/>
          <p:nvPr/>
        </p:nvSpPr>
        <p:spPr>
          <a:xfrm>
            <a:off x="198119" y="3830199"/>
            <a:ext cx="11795759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사용자의 마일리지가 적립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사용될 경우 상황에 맞는 데이터를 저장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47FFB9B-07A6-5769-55F0-B17100BBB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759054"/>
              </p:ext>
            </p:extLst>
          </p:nvPr>
        </p:nvGraphicFramePr>
        <p:xfrm>
          <a:off x="198119" y="2384471"/>
          <a:ext cx="81280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841">
                  <a:extLst>
                    <a:ext uri="{9D8B030D-6E8A-4147-A177-3AD203B41FA5}">
                      <a16:colId xmlns:a16="http://schemas.microsoft.com/office/drawing/2014/main" val="3767239106"/>
                    </a:ext>
                  </a:extLst>
                </a:gridCol>
                <a:gridCol w="6233159">
                  <a:extLst>
                    <a:ext uri="{9D8B030D-6E8A-4147-A177-3AD203B41FA5}">
                      <a16:colId xmlns:a16="http://schemas.microsoft.com/office/drawing/2014/main" val="353780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마일리지 사용 내역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type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155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0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마일리지 적립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5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1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마일리지 사용</a:t>
                      </a:r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(</a:t>
                      </a:r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이용권 교환</a:t>
                      </a:r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)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352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4BE7454-14D5-835B-3D6F-33E47282D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3831"/>
            <a:ext cx="6058835" cy="12844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4160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8EFD1-7F6E-1E6B-A7B9-1ED69EDDA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53C71B3A-09B7-2BC2-7481-5EA0633515BF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D852A62-8086-5319-7819-8180C5EE3F67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3B050A0-4421-98F6-AA7B-A1FB687015D5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5338237D-C963-DFF2-5963-DCFC2D277E6E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4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4BF491-6720-D187-C6A1-7F1849DAC154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E1974ECC-4736-652E-71F1-5B52CD4E2089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 및 사용 내역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396D6-61B3-108C-0278-9982F11C2F66}"/>
              </a:ext>
            </a:extLst>
          </p:cNvPr>
          <p:cNvSpPr txBox="1"/>
          <p:nvPr/>
        </p:nvSpPr>
        <p:spPr>
          <a:xfrm>
            <a:off x="198119" y="4513543"/>
            <a:ext cx="424180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※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티켓 사용 내역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B01FAD1-33CE-56B7-67C5-D2E55F918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475801"/>
              </p:ext>
            </p:extLst>
          </p:nvPr>
        </p:nvGraphicFramePr>
        <p:xfrm>
          <a:off x="198119" y="2307782"/>
          <a:ext cx="8128000" cy="177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841">
                  <a:extLst>
                    <a:ext uri="{9D8B030D-6E8A-4147-A177-3AD203B41FA5}">
                      <a16:colId xmlns:a16="http://schemas.microsoft.com/office/drawing/2014/main" val="3767239106"/>
                    </a:ext>
                  </a:extLst>
                </a:gridCol>
                <a:gridCol w="6233159">
                  <a:extLst>
                    <a:ext uri="{9D8B030D-6E8A-4147-A177-3AD203B41FA5}">
                      <a16:colId xmlns:a16="http://schemas.microsoft.com/office/drawing/2014/main" val="353780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티켓 보유 내역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grade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155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0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전체 작품 이용권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5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1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특정 작품 이용권</a:t>
                      </a:r>
                      <a:b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</a:br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(</a:t>
                      </a:r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작품이 삭제될 경우 </a:t>
                      </a:r>
                      <a:r>
                        <a:rPr lang="en-US" altLang="ko-KR" sz="1600" dirty="0" err="1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novel_id</a:t>
                      </a:r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 </a:t>
                      </a:r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값이 </a:t>
                      </a:r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null</a:t>
                      </a:r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로 변경되며 전체 작품 이용권의 역할을 할 수 있음</a:t>
                      </a:r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)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3522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75957FEA-25F2-472D-3936-79E290BE3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7564"/>
            <a:ext cx="3886742" cy="1200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F3EBFD1-0928-EB2F-A36E-C273B9C2D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9" y="4939685"/>
            <a:ext cx="7201905" cy="14289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731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2E80-EA3E-F31B-DFB9-4A33A0A7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88E049CA-01FB-27A7-9487-26AB412F7D01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60AAC3-547E-B0C2-6AF9-63515BFBE5B1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6388C2D-D822-EAFE-6D72-12641C8C2C6F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19DAEE26-3EC7-9FCB-5F38-1099691CE8E2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#1-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3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0F31FF0-40EC-A613-2E90-5C96F3B9862C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D01CEBC9-5B54-3FDC-91E3-34E7F99EF164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알림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526E7-3E7C-7404-73C2-BFFA72998E42}"/>
              </a:ext>
            </a:extLst>
          </p:cNvPr>
          <p:cNvSpPr txBox="1"/>
          <p:nvPr/>
        </p:nvSpPr>
        <p:spPr>
          <a:xfrm>
            <a:off x="198119" y="5558318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알림 클릭 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저장되어 있는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target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컬럼의 속성 값으로 주소 이동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추가로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알림 클릭 혹은 모두 읽기 버튼 클릭 시 상황에 맞는 쿼리문을 호출하여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is_read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속성 값을 변경하여 저장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3F3066-D6B0-9357-D6D3-9991CEE0E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8431"/>
            <a:ext cx="7188201" cy="11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29822D5-A25B-81F7-D7B1-29A11853C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4" t="54673" r="22714" b="19926"/>
          <a:stretch/>
        </p:blipFill>
        <p:spPr>
          <a:xfrm>
            <a:off x="198119" y="2268082"/>
            <a:ext cx="4885302" cy="16170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FCF9A72-CF53-FDE1-0D94-5C1BA006E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19" y="3996000"/>
            <a:ext cx="7792537" cy="80973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3F6DC42-026B-8249-D578-EDDAA104E7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869"/>
          <a:stretch/>
        </p:blipFill>
        <p:spPr>
          <a:xfrm>
            <a:off x="198119" y="4805738"/>
            <a:ext cx="7792537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24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5FB14-DC2B-6396-8DB6-B3236BF2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AF55B5A-0BCA-2D12-179A-C2E18689F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8431"/>
            <a:ext cx="7706361" cy="32203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E8F3F994-7B1A-796A-6788-A719452146F7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어드민</a:t>
            </a: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32E4D3-EDE9-AA24-9852-C66368E76658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F24F6915-B2C4-740B-306A-4618835D9C4F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C69B4ED4-F330-21F5-2A46-9617F600A4E7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#2-1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412D7C-D35B-A4BC-CF7C-8C169280B8CB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CCFEDFE3-4108-BB37-CD44-E9826D2B443F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공지사항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044EC-710A-82A7-3C9F-BA0C9A82BE9A}"/>
              </a:ext>
            </a:extLst>
          </p:cNvPr>
          <p:cNvSpPr txBox="1"/>
          <p:nvPr/>
        </p:nvSpPr>
        <p:spPr>
          <a:xfrm>
            <a:off x="198119" y="5558318"/>
            <a:ext cx="11795759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어드민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계정에서 작성된 공지사항 중 </a:t>
            </a: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어드민이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강조 표시를 한 공지사항을 메인 홈페이지에 출력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(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최대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E456E2-EC14-248B-B825-204E75C25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360" y="2638610"/>
            <a:ext cx="5116377" cy="27327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819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C4481-D7B5-1604-EBDF-7CF42972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5E481A56-6910-26AF-49DD-F1357E6E001E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어드민</a:t>
            </a: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3A7CE4F-485A-331D-6FD1-926657345705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EE9F70F-0C60-A4CF-AFBB-E8A65A2ACCA0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897AFB72-BD0A-77EF-AB62-114D74AC33F9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#2-1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87A8A74-D80A-DE87-A406-170AF46F4A66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DEA86E78-39CA-6438-D2B9-FD64B56D3994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공지사항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EC2A2-BE11-99E8-A728-AC8D8D97DF75}"/>
              </a:ext>
            </a:extLst>
          </p:cNvPr>
          <p:cNvSpPr txBox="1"/>
          <p:nvPr/>
        </p:nvSpPr>
        <p:spPr>
          <a:xfrm>
            <a:off x="198119" y="5558318"/>
            <a:ext cx="11795759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저장되어 있는 공지사항 중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highlight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컬럼 값이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 경우를 먼저 출력 후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나머지를 출력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3A1EB6-2110-7FCA-8697-224254C41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8431"/>
            <a:ext cx="5116377" cy="27327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26A06BE-DA61-FFB2-6D26-D8F17D2DF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398" y="1028431"/>
            <a:ext cx="8019480" cy="45298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7889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8BF4-34B1-5451-AC7C-E2FBDBEF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8193ACA6-AD0E-CE02-9115-B343F09C075F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어드민</a:t>
            </a: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1A49DF5-E5B4-561A-B9CD-7EDC75CB41EC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1A4011BA-E410-D308-A85E-C86265A267F1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C2531AAC-4EA9-81FA-CC92-573A017C6ECE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#2-1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D3DE89-0537-D057-362D-5189F595ED54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0EC40DA9-A4A5-3A24-FF80-4C46FEF8E620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공지사항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08A4BE-D339-D98D-2245-E9DD811EB727}"/>
              </a:ext>
            </a:extLst>
          </p:cNvPr>
          <p:cNvSpPr txBox="1"/>
          <p:nvPr/>
        </p:nvSpPr>
        <p:spPr>
          <a:xfrm>
            <a:off x="198119" y="5558318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스위치를 할당하여 </a:t>
            </a: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어드민이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웹 페이지에서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highlight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컬럼의 값을 변경 가능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어드민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계정으로 </a:t>
            </a: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로그인되어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있지 않은 경우 웹페이지의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강조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‘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컬럼은 </a:t>
            </a: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미출력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0EACD0-295A-B1D6-E2F2-EF9CFD431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8431"/>
            <a:ext cx="5116377" cy="27327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5008460-32DB-3420-9A6A-B4F276149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878" y="1029274"/>
            <a:ext cx="6258543" cy="44482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1907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CFAE7-C77B-7C0C-F5A3-B86DE59B3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0C8EFCB-D2AC-998E-C179-061143EB6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61" y="1887079"/>
            <a:ext cx="4791744" cy="24101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7A166F-5743-E054-DA39-21020C137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9" y="1028432"/>
            <a:ext cx="6324601" cy="32688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C01EB766-5657-7740-7E2A-D1942309E4AD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어드민</a:t>
            </a: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01FE85C-7B66-8E82-3DD6-AD97A2E387D1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A69FE16-4A4D-095A-8775-A6E5FBF2ACF5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7AF011E9-7571-209F-CE14-473FA654E78E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#2-2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651CFE-0478-1022-4E5E-94FAB6857C78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E6C981CD-8FB8-83CC-CAF8-084CCFAD627A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 대기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056334-88FA-7F13-62E5-0FA0BC65BB02}"/>
              </a:ext>
            </a:extLst>
          </p:cNvPr>
          <p:cNvSpPr txBox="1"/>
          <p:nvPr/>
        </p:nvSpPr>
        <p:spPr>
          <a:xfrm>
            <a:off x="198121" y="5956055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 코인 충전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환불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환전 한 경우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COIN_PAYMENT_WATING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테이블에 데이터 생성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결제 확인 버튼 클릭 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값을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변경하여 저장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4136012-1518-4704-1EE3-4FED79D1FFBF}"/>
              </a:ext>
            </a:extLst>
          </p:cNvPr>
          <p:cNvGraphicFramePr>
            <a:graphicFrameLocks noGrp="1"/>
          </p:cNvGraphicFramePr>
          <p:nvPr/>
        </p:nvGraphicFramePr>
        <p:xfrm>
          <a:off x="198119" y="4568894"/>
          <a:ext cx="4079241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641">
                  <a:extLst>
                    <a:ext uri="{9D8B030D-6E8A-4147-A177-3AD203B41FA5}">
                      <a16:colId xmlns:a16="http://schemas.microsoft.com/office/drawing/2014/main" val="3767239106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3780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코인 결제 대기 내역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type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155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0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코인 충전 신청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5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2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코인 환불</a:t>
                      </a:r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/</a:t>
                      </a:r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환전 신청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352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DF68896-74BE-C579-1003-5583DAE97901}"/>
              </a:ext>
            </a:extLst>
          </p:cNvPr>
          <p:cNvGraphicFramePr>
            <a:graphicFrameLocks noGrp="1"/>
          </p:cNvGraphicFramePr>
          <p:nvPr/>
        </p:nvGraphicFramePr>
        <p:xfrm>
          <a:off x="4658341" y="4568894"/>
          <a:ext cx="4079241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641">
                  <a:extLst>
                    <a:ext uri="{9D8B030D-6E8A-4147-A177-3AD203B41FA5}">
                      <a16:colId xmlns:a16="http://schemas.microsoft.com/office/drawing/2014/main" val="3767239106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3780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코인 결제 대기 내역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con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155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0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처리 대기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5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1</a:t>
                      </a:r>
                      <a:endParaRPr lang="ko-KR" altLang="en-US" sz="1600" dirty="0">
                        <a:latin typeface="나눔스퀘어" panose="020B0600000101010101" pitchFamily="34" charset="-127"/>
                        <a:ea typeface="나눔스퀘어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나눔스퀘어" panose="020B0600000101010101" pitchFamily="34" charset="-127"/>
                          <a:ea typeface="나눔스퀘어" panose="020B0600000101010101" pitchFamily="34" charset="-127"/>
                        </a:rPr>
                        <a:t>처리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3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128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3E496-8C29-3ECF-3BBB-82222A4CA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0D5DEF7-65E2-DE81-71B6-CD137F30D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32"/>
          <a:stretch/>
        </p:blipFill>
        <p:spPr>
          <a:xfrm>
            <a:off x="198119" y="1028432"/>
            <a:ext cx="5569952" cy="32688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E1C16A37-1731-9D44-1146-F648AB60CC8E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어드민</a:t>
            </a: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928A1EA-5DFF-BAB2-F438-A103F0B6C88E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13E59EB-3410-D6BA-1F93-32698FC51743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DF7D2FC8-AB79-9D10-9728-E2030A55216F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#2-2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74FD6E-7937-620C-5458-EFC312FF4381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BCF2C5A9-272D-DD30-F359-95ED1CF4BD37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 대기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974CB-8CDB-7DA8-2300-0EBE93BDA0B2}"/>
              </a:ext>
            </a:extLst>
          </p:cNvPr>
          <p:cNvSpPr txBox="1"/>
          <p:nvPr/>
        </p:nvSpPr>
        <p:spPr>
          <a:xfrm>
            <a:off x="198121" y="5956055"/>
            <a:ext cx="11795759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결제 확인 버튼 클릭 시 처리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상태가 완료로 변경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(con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값을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변경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되며 해당 사용자의 처리 상태 변경 알림 데이터를 생성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6A94B5-1FFF-A56F-3E79-B71532C5C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331" y="1028432"/>
            <a:ext cx="6234549" cy="43309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1159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CB98-A46E-732A-162B-F11AFA9C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11DDBF-0E93-E3B5-E0C8-77036AC6A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9" r="15039" b="36356"/>
          <a:stretch/>
        </p:blipFill>
        <p:spPr>
          <a:xfrm>
            <a:off x="198119" y="1034152"/>
            <a:ext cx="7817113" cy="35501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D32FE15D-A7F6-7010-5386-DE199FA49172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작품 관리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BD348D9-DA61-2343-4F94-43B4BC2A4BDF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BF9D0FE4-E763-B5D1-BEAD-DAC86C7C2FAE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3F8B6F9E-D387-D0C0-E03C-CD924BFB6424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#3-1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938EA9-F3DE-AF4B-9A4B-8AFF55D1082A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B63767A4-62E3-22B5-C950-E57D716BD09A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작품 별 수익 관리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A29F7D-A7FF-7BBB-9128-8859DD1654DE}"/>
              </a:ext>
            </a:extLst>
          </p:cNvPr>
          <p:cNvSpPr txBox="1"/>
          <p:nvPr/>
        </p:nvSpPr>
        <p:spPr>
          <a:xfrm>
            <a:off x="198119" y="5558318"/>
            <a:ext cx="11795759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수익이 발생한 작품들의 누적 판매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후원 금액을 함께 출력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A2D5DF-9A3A-E53C-65CA-C118051D7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33" y="1028432"/>
            <a:ext cx="7950198" cy="23145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4D17F7B-366F-9B54-C972-651C141A3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99" y="3342938"/>
            <a:ext cx="5973532" cy="3419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7071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934B-0728-3983-78B6-AA3CF4DF1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BE1B6D2E-8DCD-C5D8-1088-DD06EB70C4B9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작품 관리 페이지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9495A0D-CB02-253E-79B2-E9A467C1818D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F29D891-D966-0C2A-D171-EF918A199B34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4D44E6C3-AE85-5548-603B-F25CD4D34078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#3-1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1BB165-94B4-A2F9-33AB-B206F42E64B9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D9FA0860-C873-3154-7772-A9BCA65BE44C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작품 별 수익 관리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9652DF-03A9-4BE5-B8DF-E472E1B41BE0}"/>
              </a:ext>
            </a:extLst>
          </p:cNvPr>
          <p:cNvSpPr txBox="1"/>
          <p:nvPr/>
        </p:nvSpPr>
        <p:spPr>
          <a:xfrm>
            <a:off x="198119" y="5558318"/>
            <a:ext cx="11795759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수익이 발생한 해당 작품의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COIN_PAYMENT_INCOME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 데이터를 출력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4B707F-28D4-CA70-580E-AFE412306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2" r="14062"/>
          <a:stretch/>
        </p:blipFill>
        <p:spPr>
          <a:xfrm>
            <a:off x="198119" y="1038591"/>
            <a:ext cx="5561830" cy="3860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6AEF8FC-1716-D026-17C7-852DE9A92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309" y="1028431"/>
            <a:ext cx="5459394" cy="44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38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9EF0-4A25-30FF-59A4-1C37B2B5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29857D-FD45-D895-B1F3-30AE4EABD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8" y="1028431"/>
            <a:ext cx="6914664" cy="3889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219533C-F042-2D50-331A-9BF20059F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1028431"/>
            <a:ext cx="5897880" cy="38883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5BE33029-AFBC-6EFE-4DE6-AC8931DB31FF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</a:t>
            </a:r>
            <a:r>
              <a:rPr lang="en-US" altLang="ko-K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0B1BD8C-615F-871F-8CFA-AEEB63D15A2E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9C89046-B023-88E8-9AB9-E36B4C609656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A89CCF4E-EA36-BF0D-FA21-B2216844CC98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#4-1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240878-88FA-E8C3-1705-B24DE2C0BD2E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1EBE7B91-485F-5D9F-3502-90A0C300D472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코인 충전 및 사용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109A9-7256-A211-DB5A-F52EF12CE144}"/>
              </a:ext>
            </a:extLst>
          </p:cNvPr>
          <p:cNvSpPr txBox="1"/>
          <p:nvPr/>
        </p:nvSpPr>
        <p:spPr>
          <a:xfrm>
            <a:off x="198119" y="5558318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코인 충전 시 사용자는 결제 방법을 선택할 수 있음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무통장 입금의 경우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17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페이지의 </a:t>
            </a: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어드민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결제 대기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4" action="ppaction://hlinksldjump"/>
              </a:rPr>
              <a:t>슬라이드 참조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898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4CDC8-65C7-481F-4212-C8EAAA3D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BE41C634-D78C-2CF3-CE2A-37F312E8A403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</a:t>
            </a:r>
            <a:r>
              <a:rPr lang="en-US" altLang="ko-K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59DB4AE-2D36-4769-0693-AA83B3AE4521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0A3BF3C-AF67-2001-5CFE-1E5B1E100D7C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07CAEB8C-248B-9F60-AF9F-8B2C2C60E6A7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#4-1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E68FFDA-253A-3F61-7E71-2B1319A49000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8EBE994F-6E1C-FDA0-C85A-2885444D6060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코인 충전 및 사용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53FE0F-9EDC-40BF-0894-EAD17E29AAFE}"/>
              </a:ext>
            </a:extLst>
          </p:cNvPr>
          <p:cNvSpPr txBox="1"/>
          <p:nvPr/>
        </p:nvSpPr>
        <p:spPr>
          <a:xfrm>
            <a:off x="198119" y="5172584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카카오페이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API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활용하여 결제 환경 구현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결제 완료 시 선택한 충전 코인만큼 보유 코인이 증가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4FC473-8954-655A-14E8-3EF4C7110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8" y="1028431"/>
            <a:ext cx="4521554" cy="26991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141C707-AC85-92DD-EB7F-73E2EAC82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672" y="1028431"/>
            <a:ext cx="6468378" cy="31627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272E6FA-515D-5805-5EF8-F219A8C3F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78" b="7851"/>
          <a:stretch/>
        </p:blipFill>
        <p:spPr>
          <a:xfrm>
            <a:off x="9382592" y="1930400"/>
            <a:ext cx="2499526" cy="32421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83739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B3641-6D9D-51BC-CB14-3CC004CEC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1552B9-CD10-3F90-82F9-BB8A01137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8" y="1028431"/>
            <a:ext cx="5801727" cy="4196083"/>
          </a:xfrm>
          <a:prstGeom prst="rect">
            <a:avLst/>
          </a:prstGeom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16A0C1CA-BFA7-FF66-BC99-66D602BA16D1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</a:t>
            </a:r>
            <a:r>
              <a:rPr lang="en-US" altLang="ko-K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9B8D37D-BA4C-99C3-F59E-858FD670C491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D42CA98-BC0C-186A-BE25-77EE775B4DD1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07536ECE-DDB5-5D0E-3729-49500F304A8F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#4-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21D345-5544-486B-D1D5-3515DA23E451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65C752C4-C0F4-FA59-2AED-B8D75D9CAEA0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마일리지 적립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E54C9D-DA51-9295-FDE4-0A93D459B3BB}"/>
              </a:ext>
            </a:extLst>
          </p:cNvPr>
          <p:cNvSpPr txBox="1"/>
          <p:nvPr/>
        </p:nvSpPr>
        <p:spPr>
          <a:xfrm>
            <a:off x="198119" y="5815601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 로그인을 할 때 출석체크가 되어 있지 않은 경우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today_check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값을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변경 한 후 마일리지를 적립하여 저장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추가로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Mysql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이벤트 스케줄러를 생성하여 매일 자정이 되면 모든 유저의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today_check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값을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초기화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CDD438-0F59-40C7-C06F-6E74120CCB2E}"/>
              </a:ext>
            </a:extLst>
          </p:cNvPr>
          <p:cNvSpPr/>
          <p:nvPr/>
        </p:nvSpPr>
        <p:spPr>
          <a:xfrm>
            <a:off x="1119872" y="3760601"/>
            <a:ext cx="2649488" cy="6684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64C630-CF3A-5D67-76A4-7C83253B5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028431"/>
            <a:ext cx="5649113" cy="18671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80E3E6A-66C8-3D45-5A36-1C59C708C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17" y="5386048"/>
            <a:ext cx="11795759" cy="42955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EBFF06B-D747-038F-2FB4-2038E95304F8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3769360" y="1962012"/>
            <a:ext cx="2326638" cy="21328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930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E38C9-22D5-E6A4-9E0C-478567E1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FF2DE69-738B-D956-EB1D-809C0FA7F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1028431"/>
            <a:ext cx="6914664" cy="3889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91EB5B-209C-85B3-99F6-4C8538B11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080" y="1028431"/>
            <a:ext cx="5378173" cy="38883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D2F9ACC5-1A27-A884-C0FF-CCC6919B3CAB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</a:t>
            </a:r>
            <a:r>
              <a:rPr lang="en-US" altLang="ko-K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45649F6-467B-7A55-CD4C-660239A1D8C5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80534C9-5592-B8E3-0B24-21E549484DEA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85669BDC-BC34-8B1E-50AD-5BDD0E6AB96D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#4-</a:t>
              </a:r>
              <a:r>
                <a:rPr lang="en-US" sz="1500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3</a:t>
              </a:r>
              <a:endParaRPr lang="en-US" sz="1500" b="0" i="0" u="none" strike="noStrike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39CDBA-EF77-814D-647B-ECE75F3C7916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54B87DF8-A0FF-333E-5646-9DBA94E423C4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이용권 교환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484410-3C3B-E254-85D7-EFD9AEA3DE3E}"/>
              </a:ext>
            </a:extLst>
          </p:cNvPr>
          <p:cNvSpPr txBox="1"/>
          <p:nvPr/>
        </p:nvSpPr>
        <p:spPr>
          <a:xfrm>
            <a:off x="198119" y="5160581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적립한 마일리지를 이용권으로 교환하는 시스템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자유 이용권의 경우 모든 유료 작품에 사용이 가능하며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작품 이용권의 경우 유료 작품을 검색하여 해당 작품의 이용권으로 교환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0734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41B1-3584-F6D0-1432-CE655800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2403D3-FEFB-37DF-8F92-1846CB4EF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7" r="21747" b="35015"/>
          <a:stretch/>
        </p:blipFill>
        <p:spPr>
          <a:xfrm>
            <a:off x="198119" y="1028431"/>
            <a:ext cx="3907254" cy="25275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29D31EBE-49DA-6ADC-9C59-4FF6C89306DB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</a:t>
            </a:r>
            <a:r>
              <a:rPr lang="en-US" altLang="ko-K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5AFBC75-0C65-A849-1BB8-A49F41877657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46A9EA6-5293-04EA-8AE4-58BA554E564C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F280856E-E8E5-7B9D-7077-E94D535A8C98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#4-4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026DBA-88BA-AE1C-9EE7-D121C3F46E49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93D71DBB-B9E3-E319-C51D-77DCEDE1EE9A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작품 구매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C2300A-A1BB-898A-F18F-0A513B05C46D}"/>
              </a:ext>
            </a:extLst>
          </p:cNvPr>
          <p:cNvSpPr txBox="1"/>
          <p:nvPr/>
        </p:nvSpPr>
        <p:spPr>
          <a:xfrm>
            <a:off x="198119" y="5662700"/>
            <a:ext cx="11795759" cy="1164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 작품을 구매할 경우 구매 방법을 선택 가능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코인으로 구매할 경우 작품의 구매 가격만큼 사용자의 보유 코인이 차감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이용권으로 구매할 경우 가장 오래된 이용권을 먼저 사용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C2F51A-AECF-120B-808E-51B621E89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9" y="3636767"/>
            <a:ext cx="8940252" cy="1921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8EA4AF9-886E-AC82-48D6-E82D258AE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173" y="1028431"/>
            <a:ext cx="5914807" cy="252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67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D789-F6E2-658F-A8BA-BA03D081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197CDB4-8D4A-25CC-CA11-44AB0D252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8431"/>
            <a:ext cx="5305291" cy="3889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EB3DDB0-1178-F544-9AC4-8199C0C4E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293" y="1028431"/>
            <a:ext cx="4528587" cy="3889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EAB047-660B-F4A2-8CA0-67481EE0C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068" y="1028432"/>
            <a:ext cx="4318662" cy="3889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6BF8C8D6-9E39-846D-A254-C09D39A7DDFA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</a:t>
            </a:r>
            <a:r>
              <a:rPr lang="en-US" altLang="ko-K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FD20D-1AFE-1B3F-D9C7-E4A33A34035B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FD7E5E49-1D0E-3102-F1FE-26549B917E86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5C9BB0B7-79D0-8ED9-CD64-A329E1F3B74B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#4-5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F6DCB8-C490-A942-74F3-F044DD3D030B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5564DBFA-B058-BC7A-60E4-328DF6A07D46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작품 후원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58ADB8-DD59-9EFC-E75F-98090F0886A3}"/>
              </a:ext>
            </a:extLst>
          </p:cNvPr>
          <p:cNvSpPr txBox="1"/>
          <p:nvPr/>
        </p:nvSpPr>
        <p:spPr>
          <a:xfrm>
            <a:off x="198119" y="5422684"/>
            <a:ext cx="11795759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 작품에 후원을 할 수 있는 시스템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후원 받은 작품의 작가에게 알림 데이터가 생성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7083F71-765D-1B0E-2936-EDFDF4F04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552" y="4963051"/>
            <a:ext cx="6992326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1453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1D0C-F3F6-785B-D982-191ED4B69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6A47B699-13CF-D8C2-3F7B-0AD3A86A5D62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채팅 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58912FB-6BBA-3D6C-C4D8-13C3AC540DC8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B662CF7D-C7D0-D453-E028-6F0C9804B8B6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29554D68-C4F4-D033-9C7F-99A7AFD36CBF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#5-1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69A4D3-DAFA-1F30-08BD-90597F713FFB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FB868184-F51D-6666-E101-EE867602CF69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채팅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F36B310-DA43-533D-46E7-CD2100125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02"/>
          <a:stretch/>
        </p:blipFill>
        <p:spPr>
          <a:xfrm>
            <a:off x="2264487" y="1028430"/>
            <a:ext cx="3611164" cy="3883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2D53A63-F6B7-A467-D0A6-A0C9E054FBD5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7B89BB-2FFC-D2ED-231E-32FBA5851FD5}"/>
              </a:ext>
            </a:extLst>
          </p:cNvPr>
          <p:cNvSpPr txBox="1"/>
          <p:nvPr/>
        </p:nvSpPr>
        <p:spPr>
          <a:xfrm>
            <a:off x="198120" y="5136300"/>
            <a:ext cx="11795760" cy="1030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채팅방은 페이지 스크롤 위치에 상관없이 우측하단에 고정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채팅방과 채팅 메시지는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저장하여 입출력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지난 대화 불러오기 버튼 클릭 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저장되어 있는 대화 기록을 출력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FF7257-2F38-D8A5-B68C-6FF6B3C0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" y="1028431"/>
            <a:ext cx="2947724" cy="38834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9C4BF7-361C-9447-2DD6-A32800EFF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651" y="1028430"/>
            <a:ext cx="3230211" cy="3883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49343EE4-17CF-5EBD-9A51-D7AEAA4DDE80}"/>
              </a:ext>
            </a:extLst>
          </p:cNvPr>
          <p:cNvSpPr/>
          <p:nvPr/>
        </p:nvSpPr>
        <p:spPr>
          <a:xfrm>
            <a:off x="1971273" y="3651219"/>
            <a:ext cx="596348" cy="5963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46D7649-0098-ACB6-D977-5BCB43019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8368" y="1028430"/>
            <a:ext cx="2985512" cy="38834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5954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066F-37CD-9802-60AF-F865B0B3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149900-9E95-6B2C-FE48-252746EB7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" y="1028431"/>
            <a:ext cx="7686040" cy="3870111"/>
          </a:xfrm>
          <a:prstGeom prst="rect">
            <a:avLst/>
          </a:prstGeom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AFB7FEAA-110D-6199-16AE-A0F6071F568A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채팅 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19FE1D-0086-AE95-0D31-44FB9A176BAB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6F5E9D8-7CE9-834F-4310-570F9D9DA1EA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6DCB21E0-5FBD-6D24-113E-43AC8447323B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#5-1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551E8D-3A1A-3BBD-B895-EB98696ADCFD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646A7DC5-D9FC-2CE1-2587-E3456051BEB9}"/>
              </a:ext>
            </a:extLst>
          </p:cNvPr>
          <p:cNvSpPr txBox="1"/>
          <p:nvPr/>
        </p:nvSpPr>
        <p:spPr>
          <a:xfrm>
            <a:off x="1119872" y="365178"/>
            <a:ext cx="2761248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채팅 </a:t>
            </a:r>
            <a:r>
              <a:rPr lang="en-US" altLang="ko-KR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채팅방</a:t>
            </a: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개설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99A8E1-04D7-0EE5-7D81-A05F11875DEB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B7972-C905-6563-0621-9A029244248C}"/>
              </a:ext>
            </a:extLst>
          </p:cNvPr>
          <p:cNvSpPr txBox="1"/>
          <p:nvPr/>
        </p:nvSpPr>
        <p:spPr>
          <a:xfrm>
            <a:off x="198120" y="5136300"/>
            <a:ext cx="11795760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채팅방은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문의하기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’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버튼을 클릭하여 생성이 가능하며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이미 채팅방이 생성되어 있는 상태인 경우 생성하지 않음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3587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1A45E-ADAC-2567-FCCD-97061F1F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99C7548-EFE1-4C47-6D25-D5405BB16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028430"/>
            <a:ext cx="7844570" cy="3334847"/>
          </a:xfrm>
          <a:prstGeom prst="rect">
            <a:avLst/>
          </a:prstGeom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B3679D43-2B26-0065-13CF-F5129F3CA351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채팅 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ADA3F77-3B1E-9479-5BF8-13765C590C88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98BE20B-2264-FA46-4015-2DC08A18DC35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12459E9B-748C-8A55-D3B4-04E286110026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#5-1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18DAB1-E7C1-0B2D-D19E-AB4B9DC41837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EDCC59-E003-9379-6192-41968E038131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64E65B3F-FBB3-98D4-38DA-D0C0B1E78C26}"/>
              </a:ext>
            </a:extLst>
          </p:cNvPr>
          <p:cNvSpPr txBox="1"/>
          <p:nvPr/>
        </p:nvSpPr>
        <p:spPr>
          <a:xfrm>
            <a:off x="1119872" y="365178"/>
            <a:ext cx="2532013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채팅 </a:t>
            </a:r>
            <a:r>
              <a:rPr lang="en-US" altLang="ko-KR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웹 소켓 연결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1121E7-2526-9AFB-629F-CCDD1A13AEAB}"/>
              </a:ext>
            </a:extLst>
          </p:cNvPr>
          <p:cNvSpPr txBox="1"/>
          <p:nvPr/>
        </p:nvSpPr>
        <p:spPr>
          <a:xfrm>
            <a:off x="198120" y="4659222"/>
            <a:ext cx="11795760" cy="1030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클라이언트에서 </a:t>
            </a:r>
            <a:r>
              <a:rPr lang="en-US" altLang="ko-KR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SockJS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와 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Stomp.js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를 활용하여 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WebSocket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서버에 연결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연결 성공 후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지정된 구독 채널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(/topic/message)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에 가입하여 서버로부터 수신되는 메시지를 처리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수신된 메시지의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</a:t>
            </a:r>
            <a:r>
              <a:rPr lang="en-US" altLang="ko-KR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chatRoomId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와 </a:t>
            </a: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로그인되어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있는 아이디를 비교하여 본인 이외의 상대가 보낸 메시지인 경우에만 화면에 표시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5374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13AE-E0DE-6A48-AB86-B49A50D1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87F84989-4B14-C9AB-525B-84583AEE0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8431"/>
            <a:ext cx="5199656" cy="334893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79B5541-4CFE-4341-4ABD-FB041B2F6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235" y="1028431"/>
            <a:ext cx="5475302" cy="2668075"/>
          </a:xfrm>
          <a:prstGeom prst="rect">
            <a:avLst/>
          </a:prstGeom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4CC5E0C9-881D-344D-5107-4F02AD9AA83B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채팅 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EAEE627-008A-E7EE-C3CE-FAAF4CB81186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1FDA60-987D-F398-021C-BF5991788228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E949495E-4499-E595-EAB7-3A1E44470D09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#5-1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8CB27B1-F461-4082-DFB9-F22896DF3E02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55B19D-3144-166B-A68D-10512D7B77B5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98C9ABE-708C-A409-EFD4-BA83FCC9A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234" y="3688282"/>
            <a:ext cx="5475394" cy="3123997"/>
          </a:xfrm>
          <a:prstGeom prst="rect">
            <a:avLst/>
          </a:prstGeom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317E4E13-3A99-0C65-DDFA-BE9C3C8F1454}"/>
              </a:ext>
            </a:extLst>
          </p:cNvPr>
          <p:cNvSpPr txBox="1"/>
          <p:nvPr/>
        </p:nvSpPr>
        <p:spPr>
          <a:xfrm>
            <a:off x="1119872" y="365178"/>
            <a:ext cx="3203650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채팅 </a:t>
            </a:r>
            <a:r>
              <a:rPr lang="en-US" altLang="ko-KR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메시지 송수신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3A563A-A1A0-4D86-9EBF-45C9C9951E24}"/>
              </a:ext>
            </a:extLst>
          </p:cNvPr>
          <p:cNvSpPr txBox="1"/>
          <p:nvPr/>
        </p:nvSpPr>
        <p:spPr>
          <a:xfrm>
            <a:off x="198120" y="4659222"/>
            <a:ext cx="5705723" cy="1677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웹소켓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핸들러를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활용하여 사용자 간 실시간 메시지 송수신을 처리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서버는 수신한 메시지를 데이터베이스에 저장한 뒤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구독 중인 </a:t>
            </a:r>
            <a:b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</a:b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클라이언트에게 메시지를 전송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클라이언트는 전달받은 메시지를 채팅창에 실시간으로 출력하며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b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</a:b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최신 메시지로 자동 스크롤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5414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C345F-7DA4-4599-4E28-B25DA743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CC98C24-5BA3-E132-7640-CD4F065A2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" y="1044751"/>
            <a:ext cx="6361707" cy="3883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3BEB207F-B2CF-E15E-7969-92E130A80879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채팅 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3FA4F58-7A79-6320-BD0D-56F65EEA3992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FB98AD5-223D-AE78-B608-0736300FBF84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434CF944-88CB-C5EE-745A-084274FEC35F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#5-2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EB6661-6194-FA7B-41C3-EF1E06780D59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37DB6E1F-9280-B695-3655-7BFFF279779E}"/>
              </a:ext>
            </a:extLst>
          </p:cNvPr>
          <p:cNvSpPr txBox="1"/>
          <p:nvPr/>
        </p:nvSpPr>
        <p:spPr>
          <a:xfrm>
            <a:off x="1119872" y="365178"/>
            <a:ext cx="192812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어드민</a:t>
            </a: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채팅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2874F4-FE15-5EB0-F312-EB59071690F2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9E3EA-A0ED-ADE1-3063-166CF57F12B4}"/>
              </a:ext>
            </a:extLst>
          </p:cNvPr>
          <p:cNvSpPr txBox="1"/>
          <p:nvPr/>
        </p:nvSpPr>
        <p:spPr>
          <a:xfrm>
            <a:off x="198120" y="5136300"/>
            <a:ext cx="11795760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어드민은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사용자별 </a:t>
            </a: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채팅방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목록과 메시지를 실시간으로 확인 및 응답 가능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WebSocket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을 통해 메시지를 실시간으로 송수신하며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읽지 않은 메시지는 </a:t>
            </a: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뱃지로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표시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채팅방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클릭 시 해당 메시지를 불러오고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관리자와 사용자 메시지를 시각적으로 구분해 출력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채팅방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렌더링 함수를 호출할 때 안 읽은 메시지의 렌더링의 순서는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받은 메시지 시간을 우선으로 하며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같은 경우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안 읽은 메시지 개수로 정렬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078D0D8-5577-C671-3327-4F42128C2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748" y="1044749"/>
            <a:ext cx="7054132" cy="38834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1995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EDB1-FC8B-8DD6-E51A-2A10BDE6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43F35CE8-E363-6884-A7B2-5D9DC01BB70E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채팅 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7CA6637-AE25-4BD8-11DC-B9E11944DB38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3EBBB28-D6D0-583E-B7DB-E7AA72841571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56FE2A7B-46EA-EBAF-5F6B-5FD92CCFC614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#5-2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7F7403-988C-E9DF-749A-6E0FA8C39975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CC6674-4E81-8029-2F61-790387DD4605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DAB1F521-6B50-8531-48D4-BF70EFA92002}"/>
              </a:ext>
            </a:extLst>
          </p:cNvPr>
          <p:cNvSpPr txBox="1"/>
          <p:nvPr/>
        </p:nvSpPr>
        <p:spPr>
          <a:xfrm>
            <a:off x="1119872" y="365178"/>
            <a:ext cx="2532013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어드민</a:t>
            </a: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채팅 </a:t>
            </a:r>
            <a:r>
              <a:rPr lang="en-US" altLang="ko-KR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웹 소켓 연결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7B9837-E777-1B2E-5C9F-A6A4CF04B126}"/>
              </a:ext>
            </a:extLst>
          </p:cNvPr>
          <p:cNvSpPr txBox="1"/>
          <p:nvPr/>
        </p:nvSpPr>
        <p:spPr>
          <a:xfrm>
            <a:off x="198120" y="5677374"/>
            <a:ext cx="11795760" cy="1030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클라이언트에서 </a:t>
            </a:r>
            <a:r>
              <a:rPr lang="en-US" altLang="ko-KR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SockJS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와 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Stomp.js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를 활용하여 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WebSocket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서버에 연결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연결 성공 후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지정된 구독 채널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(/topic/message)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에 가입하여 서버로부터 수신되는 메시지를 처리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메시지 수신 시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현재 열린 </a:t>
            </a: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채팅방이면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바로 표시하고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아니라면 새 메시지 알림 버튼을 활성화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18084E3-9A89-450A-0979-A334C6FD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026200"/>
            <a:ext cx="7506748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43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21CF-3D8E-868A-C44C-7337A0BE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E7961FC9-8913-B8C2-631B-A4304D7D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1028431"/>
            <a:ext cx="5199656" cy="3348931"/>
          </a:xfrm>
          <a:prstGeom prst="rect">
            <a:avLst/>
          </a:prstGeom>
        </p:spPr>
      </p:pic>
      <p:sp>
        <p:nvSpPr>
          <p:cNvPr id="5" name="TextBox 14">
            <a:extLst>
              <a:ext uri="{FF2B5EF4-FFF2-40B4-BE49-F238E27FC236}">
                <a16:creationId xmlns:a16="http://schemas.microsoft.com/office/drawing/2014/main" id="{40B9AE34-DF0D-5B37-C7B4-CB7FCBD15B00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채팅 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63D480B-C3B3-269E-2B3E-3FAE45EB5E4F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D356667-E643-D9E0-688D-D4E7C8A04886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1D70BC9E-EC88-064B-1BA1-EFA8FB681894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#5-2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0F0B40-D8D4-9CB9-D614-F12FD9F5A89C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5DD58C-9484-5B9F-606B-42185E740160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4FDE9F17-6AD2-ABE5-C513-87A3E4138B02}"/>
              </a:ext>
            </a:extLst>
          </p:cNvPr>
          <p:cNvSpPr txBox="1"/>
          <p:nvPr/>
        </p:nvSpPr>
        <p:spPr>
          <a:xfrm>
            <a:off x="1119872" y="365178"/>
            <a:ext cx="3203650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어드민</a:t>
            </a: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채팅 </a:t>
            </a:r>
            <a:r>
              <a:rPr lang="en-US" altLang="ko-KR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메시지 송수신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65F399-4071-A6F9-6D9C-EE08F75DE6C1}"/>
              </a:ext>
            </a:extLst>
          </p:cNvPr>
          <p:cNvSpPr txBox="1"/>
          <p:nvPr/>
        </p:nvSpPr>
        <p:spPr>
          <a:xfrm>
            <a:off x="198120" y="4659222"/>
            <a:ext cx="5705723" cy="1677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웹소켓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핸들러를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 활용하여 사용자 간 실시간 메시지 송수신을 처리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서버는 수신한 메시지를 데이터베이스에 저장한 뒤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구독 중인 </a:t>
            </a:r>
            <a:b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</a:b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클라이언트에게 메시지를 전송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클라이언트는 전달받은 메시지를 채팅창에 실시간으로 출력하며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b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</a:b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최신 메시지로 자동 스크롤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F1FA35-78DC-4E46-ADF8-A5CA0037E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234" y="1022271"/>
            <a:ext cx="5705723" cy="299731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A814BD-2AB1-80EA-AD1E-6C86D1693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234" y="4016689"/>
            <a:ext cx="5705723" cy="279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65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368A-6E0D-2F7F-CA15-34001F50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>
            <a:extLst>
              <a:ext uri="{FF2B5EF4-FFF2-40B4-BE49-F238E27FC236}">
                <a16:creationId xmlns:a16="http://schemas.microsoft.com/office/drawing/2014/main" id="{25BA782D-8291-F441-C609-0D2D8BC606CD}"/>
              </a:ext>
            </a:extLst>
          </p:cNvPr>
          <p:cNvSpPr txBox="1"/>
          <p:nvPr/>
        </p:nvSpPr>
        <p:spPr>
          <a:xfrm>
            <a:off x="3881120" y="270510"/>
            <a:ext cx="442976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채팅 시스템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A46CFDF-0130-D524-A6F9-109A689BF8A9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F97D81D-1408-A76D-4F41-99F74441A37C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B67BE8C5-BD67-BD77-525A-B5D1410BB4B2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#5-2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B904AF-80AE-E465-9942-18170F178C8F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461387-DD6E-6A38-F93D-4FB7A2D19D8C}"/>
              </a:ext>
            </a:extLst>
          </p:cNvPr>
          <p:cNvSpPr/>
          <p:nvPr/>
        </p:nvSpPr>
        <p:spPr>
          <a:xfrm>
            <a:off x="198120" y="901945"/>
            <a:ext cx="11795760" cy="45719"/>
          </a:xfrm>
          <a:prstGeom prst="rect">
            <a:avLst/>
          </a:prstGeom>
          <a:solidFill>
            <a:srgbClr val="B5C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56CC0072-66F3-5112-B81E-AAD0D3A96F2C}"/>
              </a:ext>
            </a:extLst>
          </p:cNvPr>
          <p:cNvSpPr txBox="1"/>
          <p:nvPr/>
        </p:nvSpPr>
        <p:spPr>
          <a:xfrm>
            <a:off x="1119873" y="226679"/>
            <a:ext cx="2358824" cy="55399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lvl="0">
              <a:lnSpc>
                <a:spcPct val="99600"/>
              </a:lnSpc>
            </a:pPr>
            <a:r>
              <a:rPr lang="ko-KR" altLang="en-US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어드민</a:t>
            </a: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채팅 </a:t>
            </a:r>
            <a:r>
              <a:rPr lang="en-US" altLang="ko-KR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새 </a:t>
            </a:r>
            <a:r>
              <a:rPr lang="ko-KR" altLang="en-US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채팅방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메시지 알림 버튼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94A685-B551-9F7B-BE2E-91CFE02334EE}"/>
              </a:ext>
            </a:extLst>
          </p:cNvPr>
          <p:cNvSpPr txBox="1"/>
          <p:nvPr/>
        </p:nvSpPr>
        <p:spPr>
          <a:xfrm>
            <a:off x="198120" y="4801069"/>
            <a:ext cx="11795760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새로운 채팅방이 생성되거나 메시지가 수신되면 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"</a:t>
            </a:r>
            <a:r>
              <a:rPr lang="ko-KR" altLang="en-US" sz="1400" dirty="0" err="1">
                <a:latin typeface="나눔스퀘어" panose="020B0600000101010101" pitchFamily="34" charset="-127"/>
                <a:ea typeface="나눔스퀘어" panose="020B0600000101010101" pitchFamily="34" charset="-127"/>
              </a:rPr>
              <a:t>새로고침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"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버튼이 표시되어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, </a:t>
            </a:r>
            <a:r>
              <a:rPr lang="ko-KR" altLang="en-US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관리자가 목록을 수동으로 갱신</a:t>
            </a:r>
            <a:r>
              <a:rPr lang="en-US" altLang="ko-KR" sz="1400" dirty="0">
                <a:latin typeface="나눔스퀘어" panose="020B0600000101010101" pitchFamily="34" charset="-127"/>
                <a:ea typeface="나눔스퀘어" panose="020B0600000101010101" pitchFamily="34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DF6EF2-4BD2-DD4C-60B6-35802C5B0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026200"/>
            <a:ext cx="7925906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95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ACCF5-8BEE-7158-6E32-72338B1E1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4A2D29B-DEB5-397F-C0AA-44DF3F855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1AD5936E-0A81-192F-048B-50C21B8331C3}"/>
              </a:ext>
            </a:extLst>
          </p:cNvPr>
          <p:cNvGrpSpPr/>
          <p:nvPr/>
        </p:nvGrpSpPr>
        <p:grpSpPr>
          <a:xfrm>
            <a:off x="401320" y="186178"/>
            <a:ext cx="635000" cy="635000"/>
            <a:chOff x="401320" y="105410"/>
            <a:chExt cx="635000" cy="635000"/>
          </a:xfrm>
          <a:solidFill>
            <a:schemeClr val="accent5"/>
          </a:solidFill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C881D5E-735C-FF2B-1F4E-67AE334BD06F}"/>
                </a:ext>
              </a:extLst>
            </p:cNvPr>
            <p:cNvSpPr/>
            <p:nvPr/>
          </p:nvSpPr>
          <p:spPr>
            <a:xfrm>
              <a:off x="401320" y="10541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235497A6-FD70-16CB-B810-A8C2D1D68AA7}"/>
                </a:ext>
              </a:extLst>
            </p:cNvPr>
            <p:cNvSpPr txBox="1"/>
            <p:nvPr/>
          </p:nvSpPr>
          <p:spPr>
            <a:xfrm>
              <a:off x="484873" y="266945"/>
              <a:ext cx="467895" cy="311930"/>
            </a:xfrm>
            <a:prstGeom prst="rect">
              <a:avLst/>
            </a:prstGeom>
            <a:grpFill/>
          </p:spPr>
          <p:txBody>
            <a:bodyPr lIns="0" tIns="0" rIns="0" bIns="0" rtlCol="0" anchor="ctr" anchorCtr="0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FFFF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#06</a:t>
              </a:r>
            </a:p>
          </p:txBody>
        </p:sp>
      </p:grpSp>
      <p:sp>
        <p:nvSpPr>
          <p:cNvPr id="11" name="TextBox 14">
            <a:extLst>
              <a:ext uri="{FF2B5EF4-FFF2-40B4-BE49-F238E27FC236}">
                <a16:creationId xmlns:a16="http://schemas.microsoft.com/office/drawing/2014/main" id="{FF6E8975-B193-EAEB-7C90-D0DD358EEFE4}"/>
              </a:ext>
            </a:extLst>
          </p:cNvPr>
          <p:cNvSpPr txBox="1"/>
          <p:nvPr/>
        </p:nvSpPr>
        <p:spPr>
          <a:xfrm>
            <a:off x="1119873" y="368993"/>
            <a:ext cx="2160000" cy="276999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데이터베이스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- ERD</a:t>
            </a:r>
            <a:endParaRPr lang="en-US" sz="26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6627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2319</TotalTime>
  <Words>1347</Words>
  <Application>Microsoft Office PowerPoint</Application>
  <PresentationFormat>와이드스크린</PresentationFormat>
  <Paragraphs>244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나눔스퀘어</vt:lpstr>
      <vt:lpstr>나눔스퀘어 Bold</vt:lpstr>
      <vt:lpstr>나눔스퀘어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ezhae</dc:creator>
  <cp:lastModifiedBy>지해 이</cp:lastModifiedBy>
  <cp:revision>295</cp:revision>
  <dcterms:created xsi:type="dcterms:W3CDTF">2025-02-13T04:51:50Z</dcterms:created>
  <dcterms:modified xsi:type="dcterms:W3CDTF">2025-06-26T09:06:19Z</dcterms:modified>
</cp:coreProperties>
</file>